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4.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68" r:id="rId15"/>
    <p:sldId id="281" r:id="rId16"/>
    <p:sldId id="279" r:id="rId17"/>
    <p:sldId id="265" r:id="rId19"/>
  </p:sldIdLst>
  <p:sldSz cx="18288000" cy="10287000"/>
  <p:notesSz cx="6858000" cy="9144000"/>
  <p:embeddedFontLst>
    <p:embeddedFont>
      <p:font typeface="Cambria" panose="02040503050406030204" pitchFamily="18" charset="0"/>
      <p:regular r:id="rId23"/>
      <p:bold r:id="rId24"/>
      <p:italic r:id="rId25"/>
      <p:boldItalic r:id="rId26"/>
    </p:embeddedFont>
    <p:embeddedFont>
      <p:font typeface="Bookman Old Style" panose="02050604050505020204" pitchFamily="18" charset="0"/>
      <p:regular r:id="rId27"/>
      <p:bold r:id="rId28"/>
      <p:italic r:id="rId29"/>
    </p:embeddedFont>
    <p:embeddedFont>
      <p:font typeface="Gotham"/>
      <p:regular r:id="rId30"/>
    </p:embeddedFont>
    <p:embeddedFont>
      <p:font typeface="Gotham Bold Italics" panose="02000000000000000000"/>
      <p:boldItalic r:id="rId31"/>
    </p:embeddedFont>
    <p:embeddedFont>
      <p:font typeface="Calibri" panose="020F050202020403020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8" d="100"/>
          <a:sy n="48" d="100"/>
        </p:scale>
        <p:origin x="2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font" Target="fonts/font13.fntdata"/><Relationship Id="rId34" Type="http://schemas.openxmlformats.org/officeDocument/2006/relationships/font" Target="fonts/font12.fntdata"/><Relationship Id="rId33" Type="http://schemas.openxmlformats.org/officeDocument/2006/relationships/font" Target="fonts/font11.fntdata"/><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14.sv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DD-MM-YYYY</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Dynamic Online Examination &amp; Result Processing System</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P.LIKITHA HARSHINI DEVI– </a:t>
            </a:r>
            <a:r>
              <a:rPr lang="en-US" sz="3000" dirty="0" err="1">
                <a:latin typeface="Cambria" panose="02040503050406030204" pitchFamily="18" charset="0"/>
                <a:ea typeface="Cambria" panose="02040503050406030204" pitchFamily="18" charset="0"/>
              </a:rPr>
              <a:t>VTU26654</a:t>
            </a:r>
            <a:r>
              <a:rPr lang="en-US" sz="3000" dirty="0">
                <a:latin typeface="Cambria" panose="02040503050406030204" pitchFamily="18" charset="0"/>
                <a:ea typeface="Cambria" panose="02040503050406030204" pitchFamily="18" charset="0"/>
              </a:rPr>
              <a:t> </a:t>
            </a:r>
            <a:endParaRPr lang="en-US" sz="3000" dirty="0">
              <a:latin typeface="Cambria" panose="02040503050406030204" pitchFamily="18" charset="0"/>
              <a:ea typeface="Cambria" panose="02040503050406030204" pitchFamily="18" charset="0"/>
            </a:endParaRPr>
          </a:p>
          <a:p>
            <a:pPr>
              <a:lnSpc>
                <a:spcPct val="150000"/>
              </a:lnSpc>
            </a:pPr>
            <a:r>
              <a:rPr lang="en-US" sz="3000" dirty="0" err="1">
                <a:latin typeface="Cambria" panose="02040503050406030204" pitchFamily="18" charset="0"/>
                <a:ea typeface="Cambria" panose="02040503050406030204" pitchFamily="18" charset="0"/>
              </a:rPr>
              <a:t>Reg.No:-23UECS0456</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sym typeface="+mn-ea"/>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70675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sym typeface="+mn-ea"/>
              </a:rPr>
              <a:t>SDG: SDG 4 – Quality Education</a:t>
            </a:r>
            <a:endParaRPr lang="en-IN" sz="2000" b="1" dirty="0">
              <a:latin typeface="Cambria" panose="02040503050406030204" pitchFamily="18" charset="0"/>
              <a:ea typeface="Cambria" panose="02040503050406030204" pitchFamily="18" charset="0"/>
            </a:endParaRP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905000" y="1562100"/>
            <a:ext cx="15082325" cy="11725275"/>
          </a:xfrm>
          <a:prstGeom prst="rect">
            <a:avLst/>
          </a:prstGeom>
          <a:noFill/>
        </p:spPr>
        <p:txBody>
          <a:bodyPr wrap="square" rtlCol="0">
            <a:spAutoFit/>
          </a:bodyPr>
          <a:lstStyle/>
          <a:p>
            <a:pPr marL="457200" indent="-457200">
              <a:buFontTx/>
              <a:buChar char="-"/>
            </a:pPr>
            <a:r>
              <a:rPr lang="en-US" sz="2800" b="1" dirty="0">
                <a:solidFill>
                  <a:srgbClr val="0033CC"/>
                </a:solidFill>
                <a:sym typeface="+mn-ea"/>
              </a:rPr>
              <a:t>Background of the problem:</a:t>
            </a:r>
            <a:endParaRPr lang="en-US" sz="2800" b="1" dirty="0">
              <a:solidFill>
                <a:srgbClr val="0033CC"/>
              </a:solidFill>
            </a:endParaRPr>
          </a:p>
          <a:p>
            <a:pPr marL="457200" indent="-457200">
              <a:buFontTx/>
              <a:buChar char="-"/>
            </a:pPr>
            <a:endParaRPr lang="en-US" sz="2800" dirty="0"/>
          </a:p>
          <a:p>
            <a:pPr marL="457200" indent="-457200">
              <a:buFontTx/>
              <a:buChar char="-"/>
            </a:pPr>
            <a:r>
              <a:rPr lang="en-US" altLang="en-US" sz="2800" dirty="0"/>
              <a:t>The traditional exam system is slow and manual, so a dynamic online system is needed to manage exams and results efficiently.</a:t>
            </a:r>
            <a:endParaRPr lang="en-US" altLang="en-US" sz="2800" dirty="0"/>
          </a:p>
          <a:p>
            <a:pPr marL="457200" indent="-457200">
              <a:buFontTx/>
              <a:buChar char="-"/>
            </a:pPr>
            <a:endParaRPr lang="en-US" altLang="en-US" sz="2800" dirty="0"/>
          </a:p>
          <a:p>
            <a:pPr marL="457200" indent="-457200">
              <a:buFontTx/>
              <a:buChar char="-"/>
            </a:pPr>
            <a:r>
              <a:rPr lang="en-US" sz="2800" b="1" dirty="0">
                <a:solidFill>
                  <a:srgbClr val="0033CC"/>
                </a:solidFill>
                <a:sym typeface="+mn-ea"/>
              </a:rPr>
              <a:t>Why this project is important:</a:t>
            </a:r>
            <a:endParaRPr lang="en-US" sz="2800" b="1" dirty="0">
              <a:solidFill>
                <a:srgbClr val="0033CC"/>
              </a:solidFill>
              <a:sym typeface="+mn-ea"/>
            </a:endParaRPr>
          </a:p>
          <a:p>
            <a:pPr marL="457200" indent="-457200">
              <a:buFontTx/>
              <a:buChar char="-"/>
            </a:pPr>
            <a:endParaRPr lang="en-US" sz="2800" b="1" dirty="0">
              <a:solidFill>
                <a:srgbClr val="0033CC"/>
              </a:solidFill>
            </a:endParaRPr>
          </a:p>
          <a:p>
            <a:pPr marL="457200" indent="-457200">
              <a:buFontTx/>
              <a:buChar char="-"/>
            </a:pPr>
            <a:r>
              <a:rPr lang="en-US" altLang="en-US" sz="2800" dirty="0"/>
              <a:t>This project is important because it makes conducting exams faster, easier, and more accurate by automating question management and instant result processing.</a:t>
            </a:r>
            <a:endParaRPr lang="en-US" altLang="en-US" sz="2800" dirty="0"/>
          </a:p>
          <a:p>
            <a:pPr marL="457200" indent="-457200">
              <a:buFontTx/>
              <a:buChar char="-"/>
            </a:pPr>
            <a:endParaRPr lang="en-US" altLang="en-US" sz="2800" dirty="0"/>
          </a:p>
          <a:p>
            <a:pPr marL="457200" indent="-457200">
              <a:buFontTx/>
              <a:buChar char="-"/>
            </a:pPr>
            <a:r>
              <a:rPr lang="en-US" sz="2800" b="1" dirty="0">
                <a:solidFill>
                  <a:srgbClr val="0033CC"/>
                </a:solidFill>
                <a:sym typeface="+mn-ea"/>
              </a:rPr>
              <a:t>Real-world relevance:</a:t>
            </a:r>
            <a:endParaRPr lang="en-US" sz="2800" b="1" dirty="0">
              <a:solidFill>
                <a:srgbClr val="0033CC"/>
              </a:solidFill>
              <a:sym typeface="+mn-ea"/>
            </a:endParaRPr>
          </a:p>
          <a:p>
            <a:pPr marL="457200" indent="-457200">
              <a:buFontTx/>
              <a:buChar char="-"/>
            </a:pPr>
            <a:endParaRPr lang="en-US" sz="2800" b="1" dirty="0">
              <a:solidFill>
                <a:srgbClr val="0033CC"/>
              </a:solidFill>
            </a:endParaRPr>
          </a:p>
          <a:p>
            <a:pPr marL="457200" indent="-457200">
              <a:buFontTx/>
              <a:buChar char="-"/>
            </a:pPr>
            <a:r>
              <a:rPr lang="en-US" altLang="en-US" sz="2800" dirty="0"/>
              <a:t>This system is widely used in schools, colleges, and companies to conduct online exams and quickly evaluate results efficiently.</a:t>
            </a:r>
            <a:endParaRPr lang="en-US" altLang="en-US" sz="2800" dirty="0"/>
          </a:p>
          <a:p>
            <a:pPr marL="457200" indent="-457200">
              <a:buFontTx/>
              <a:buChar char="-"/>
            </a:pPr>
            <a:endParaRPr lang="en-US" altLang="en-US" sz="2800" dirty="0"/>
          </a:p>
          <a:p>
            <a:pPr marL="457200" indent="-457200">
              <a:buFontTx/>
              <a:buChar char="-"/>
            </a:pPr>
            <a:r>
              <a:rPr lang="en-US" sz="2800" b="1" dirty="0">
                <a:solidFill>
                  <a:srgbClr val="0033CC"/>
                </a:solidFill>
                <a:sym typeface="+mn-ea"/>
              </a:rPr>
              <a:t>Brief overview of the system:</a:t>
            </a:r>
            <a:endParaRPr lang="en-US" sz="2800" b="1" dirty="0">
              <a:solidFill>
                <a:srgbClr val="0033CC"/>
              </a:solidFill>
              <a:sym typeface="+mn-ea"/>
            </a:endParaRPr>
          </a:p>
          <a:p>
            <a:pPr marL="457200" indent="-457200">
              <a:buFontTx/>
              <a:buChar char="-"/>
            </a:pPr>
            <a:endParaRPr lang="en-US" sz="2800" b="1" dirty="0">
              <a:solidFill>
                <a:srgbClr val="0033CC"/>
              </a:solidFill>
            </a:endParaRPr>
          </a:p>
          <a:p>
            <a:pPr marL="457200" indent="-457200">
              <a:buFontTx/>
              <a:buChar char="-"/>
            </a:pPr>
            <a:r>
              <a:rPr lang="en-US" altLang="en-US" sz="2800" dirty="0"/>
              <a:t>The system is a web-based platform where admins can add questions and monitor results, while students can select subjects, take exams, and receive instant scores.</a:t>
            </a:r>
            <a:endParaRPr lang="en-US" altLang="en-US" sz="2800" dirty="0"/>
          </a:p>
          <a:p>
            <a:pPr marL="457200" indent="-457200">
              <a:buFontTx/>
              <a:buChar char="-"/>
            </a:pP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76780" y="3390900"/>
            <a:ext cx="15082325" cy="5262245"/>
          </a:xfrm>
          <a:prstGeom prst="rect">
            <a:avLst/>
          </a:prstGeom>
          <a:noFill/>
        </p:spPr>
        <p:txBody>
          <a:bodyPr wrap="square" rtlCol="0">
            <a:spAutoFit/>
          </a:bodyPr>
          <a:lstStyle/>
          <a:p>
            <a:pPr indent="0">
              <a:buFontTx/>
              <a:buNone/>
            </a:pPr>
            <a:r>
              <a:rPr lang="en-US" altLang="en-US" sz="2800" dirty="0"/>
              <a:t>The traditional examination process is often manual, time-consuming, and prone to errors in question handling, exam conduction, and result evaluation. Managing large numbers of students becomes difficult, and delays in result processing reduce efficiency and transparency. Therefore, there is a need for a dynamic online examination and result processing system that allows admins to manage questions and monitor performance, while enabling students to take exams and receive instant, accurate results.</a:t>
            </a:r>
            <a:endParaRPr lang="en-US" altLang="en-US" sz="2800" dirty="0"/>
          </a:p>
          <a:p>
            <a:pPr marL="457200" indent="-457200">
              <a:buFontTx/>
              <a:buChar char="-"/>
            </a:pP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86000" y="2933700"/>
            <a:ext cx="15082325" cy="5692775"/>
          </a:xfrm>
          <a:prstGeom prst="rect">
            <a:avLst/>
          </a:prstGeom>
          <a:noFill/>
        </p:spPr>
        <p:txBody>
          <a:bodyPr wrap="square" rtlCol="0">
            <a:spAutoFit/>
          </a:bodyPr>
          <a:lstStyle/>
          <a:p>
            <a:pPr indent="0">
              <a:buFontTx/>
              <a:buNone/>
            </a:pPr>
            <a:r>
              <a:rPr lang="en-US" altLang="en-US" sz="2800" dirty="0"/>
              <a:t>1)To develop an online platform for conducting exams in an efficient and user-friendly manner.</a:t>
            </a:r>
            <a:endParaRPr lang="en-US" altLang="en-US" sz="2800" dirty="0"/>
          </a:p>
          <a:p>
            <a:pPr indent="0">
              <a:buFontTx/>
              <a:buNone/>
            </a:pPr>
            <a:r>
              <a:rPr lang="en-US" altLang="en-US" sz="2800" dirty="0"/>
              <a:t>This helps reduce manual effort and saves time for both admins and students.</a:t>
            </a:r>
            <a:endParaRPr lang="en-US" altLang="en-US" sz="2800" dirty="0"/>
          </a:p>
          <a:p>
            <a:pPr indent="0">
              <a:buFontTx/>
              <a:buNone/>
            </a:pPr>
            <a:endParaRPr lang="en-US" altLang="en-US" sz="2800" dirty="0"/>
          </a:p>
          <a:p>
            <a:pPr indent="0">
              <a:buFontTx/>
              <a:buNone/>
            </a:pPr>
            <a:r>
              <a:rPr lang="en-US" altLang="en-US" sz="2800" dirty="0"/>
              <a:t>2)To enable admins to easily add, update, and manage questions while monitoring student performance.</a:t>
            </a:r>
            <a:endParaRPr lang="en-US" altLang="en-US" sz="2800" dirty="0"/>
          </a:p>
          <a:p>
            <a:pPr indent="0">
              <a:buFontTx/>
              <a:buNone/>
            </a:pPr>
            <a:r>
              <a:rPr lang="en-US" altLang="en-US" sz="2800" dirty="0"/>
              <a:t>This ensures better control, accuracy, and organization of the examination process.</a:t>
            </a:r>
            <a:endParaRPr lang="en-US" altLang="en-US" sz="2800" dirty="0"/>
          </a:p>
          <a:p>
            <a:pPr indent="0">
              <a:buFontTx/>
              <a:buNone/>
            </a:pPr>
            <a:endParaRPr lang="en-US" altLang="en-US" sz="2800" dirty="0"/>
          </a:p>
          <a:p>
            <a:pPr indent="0">
              <a:buFontTx/>
              <a:buNone/>
            </a:pPr>
            <a:r>
              <a:rPr lang="en-US" altLang="en-US" sz="2800" dirty="0"/>
              <a:t>3)To provide students with instant and accurate results after completing exams.</a:t>
            </a:r>
            <a:endParaRPr lang="en-US" altLang="en-US" sz="2800" dirty="0"/>
          </a:p>
          <a:p>
            <a:pPr indent="0">
              <a:buFontTx/>
              <a:buNone/>
            </a:pPr>
            <a:r>
              <a:rPr lang="en-US" altLang="en-US" sz="2800" dirty="0"/>
              <a:t>This improves transparency and allows quick evaluation of performance.</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05000" y="1485900"/>
            <a:ext cx="20379690" cy="8666480"/>
          </a:xfrm>
          <a:prstGeom prst="rect">
            <a:avLst/>
          </a:prstGeom>
          <a:noFill/>
        </p:spPr>
        <p:txBody>
          <a:bodyPr wrap="square" rtlCol="0">
            <a:noAutofit/>
          </a:bodyPr>
          <a:lstStyle/>
          <a:p>
            <a:pPr indent="0">
              <a:buFontTx/>
              <a:buNone/>
            </a:pPr>
            <a:r>
              <a:rPr lang="en-US" altLang="en-US" sz="2400" dirty="0"/>
              <a:t>1. Automates the entire examination process and reduces manual work.</a:t>
            </a:r>
            <a:endParaRPr lang="en-US" altLang="en-US" sz="2400" dirty="0"/>
          </a:p>
          <a:p>
            <a:pPr indent="0">
              <a:buFontTx/>
              <a:buNone/>
            </a:pPr>
            <a:r>
              <a:rPr lang="en-US" altLang="en-US" sz="2400" dirty="0"/>
              <a:t>   This saves time and improves overall efficiency.</a:t>
            </a:r>
            <a:endParaRPr lang="en-US" altLang="en-US" sz="2400" dirty="0"/>
          </a:p>
          <a:p>
            <a:pPr marL="457200" indent="-457200">
              <a:buFontTx/>
              <a:buChar char="-"/>
            </a:pPr>
            <a:endParaRPr lang="en-US" altLang="en-US" sz="2400" dirty="0"/>
          </a:p>
          <a:p>
            <a:pPr indent="0">
              <a:buFontTx/>
              <a:buNone/>
            </a:pPr>
            <a:r>
              <a:rPr lang="en-US" altLang="en-US" sz="2400" dirty="0"/>
              <a:t>2. Provides secure admin login for managing questions and monitoring results.</a:t>
            </a:r>
            <a:endParaRPr lang="en-US" altLang="en-US" sz="2400" dirty="0"/>
          </a:p>
          <a:p>
            <a:pPr indent="0">
              <a:buFontTx/>
              <a:buNone/>
            </a:pPr>
            <a:r>
              <a:rPr lang="en-US" altLang="en-US" sz="2400" dirty="0"/>
              <a:t>  This ensures better control and organization of exams.</a:t>
            </a:r>
            <a:endParaRPr lang="en-US" altLang="en-US" sz="2400" dirty="0"/>
          </a:p>
          <a:p>
            <a:pPr marL="457200" indent="-457200">
              <a:buFontTx/>
              <a:buChar char="-"/>
            </a:pPr>
            <a:endParaRPr lang="en-US" altLang="en-US" sz="2400" dirty="0"/>
          </a:p>
          <a:p>
            <a:pPr indent="0">
              <a:buFontTx/>
              <a:buNone/>
            </a:pPr>
            <a:r>
              <a:rPr lang="en-US" altLang="en-US" sz="2400" dirty="0"/>
              <a:t>3. Allows students to select subjects and take exams easily online.</a:t>
            </a:r>
            <a:endParaRPr lang="en-US" altLang="en-US" sz="2400" dirty="0"/>
          </a:p>
          <a:p>
            <a:pPr indent="0">
              <a:buFontTx/>
              <a:buNone/>
            </a:pPr>
            <a:r>
              <a:rPr lang="en-US" altLang="en-US" sz="2400" dirty="0"/>
              <a:t>  This offers flexibility and convenience to users.</a:t>
            </a:r>
            <a:endParaRPr lang="en-US" altLang="en-US" sz="2400" dirty="0"/>
          </a:p>
          <a:p>
            <a:pPr marL="457200" indent="-457200">
              <a:buFontTx/>
              <a:buChar char="-"/>
            </a:pPr>
            <a:endParaRPr lang="en-US" altLang="en-US" sz="2400" dirty="0"/>
          </a:p>
          <a:p>
            <a:pPr indent="0">
              <a:buFontTx/>
              <a:buNone/>
            </a:pPr>
            <a:r>
              <a:rPr lang="en-US" altLang="en-US" sz="2400" dirty="0"/>
              <a:t>4. Evaluates answers automatically and generates instant results.</a:t>
            </a:r>
            <a:endParaRPr lang="en-US" altLang="en-US" sz="2400" dirty="0"/>
          </a:p>
          <a:p>
            <a:pPr indent="0">
              <a:buFontTx/>
              <a:buNone/>
            </a:pPr>
            <a:r>
              <a:rPr lang="en-US" altLang="en-US" sz="2400" dirty="0"/>
              <a:t> This reduces errors and speeds up result processing.</a:t>
            </a:r>
            <a:endParaRPr lang="en-US" altLang="en-US" sz="2400" dirty="0"/>
          </a:p>
          <a:p>
            <a:pPr marL="457200" indent="-457200">
              <a:buFontTx/>
              <a:buChar char="-"/>
            </a:pPr>
            <a:endParaRPr lang="en-US" altLang="en-US" sz="2400" dirty="0"/>
          </a:p>
          <a:p>
            <a:pPr indent="0">
              <a:buFontTx/>
              <a:buNone/>
            </a:pPr>
            <a:r>
              <a:rPr lang="en-US" altLang="en-US" sz="2400" dirty="0"/>
              <a:t>5. Maintains a centralized database for storing exam and student data.</a:t>
            </a:r>
            <a:endParaRPr lang="en-US" altLang="en-US" sz="2400" dirty="0"/>
          </a:p>
          <a:p>
            <a:pPr indent="0">
              <a:buFontTx/>
              <a:buNone/>
            </a:pPr>
            <a:r>
              <a:rPr lang="en-US" altLang="en-US" sz="2400" dirty="0"/>
              <a:t> This helps in easy access and data management.</a:t>
            </a:r>
            <a:endParaRPr lang="en-US" altLang="en-US" sz="2400" dirty="0"/>
          </a:p>
          <a:p>
            <a:pPr marL="457200" indent="-457200">
              <a:buFontTx/>
              <a:buChar char="-"/>
            </a:pPr>
            <a:endParaRPr lang="en-US" altLang="en-US" sz="2400" dirty="0"/>
          </a:p>
          <a:p>
            <a:pPr indent="0">
              <a:buFontTx/>
              <a:buNone/>
            </a:pPr>
            <a:r>
              <a:rPr lang="en-US" altLang="en-US" sz="2400" dirty="0"/>
              <a:t>6. Supports multiple users taking exams at the same time.</a:t>
            </a:r>
            <a:endParaRPr lang="en-US" altLang="en-US" sz="2400" dirty="0"/>
          </a:p>
          <a:p>
            <a:pPr indent="0">
              <a:buFontTx/>
              <a:buNone/>
            </a:pPr>
            <a:r>
              <a:rPr lang="en-US" altLang="en-US" sz="2400" dirty="0"/>
              <a:t> This ensures smooth performance even with high usage.</a:t>
            </a:r>
            <a:endParaRPr lang="en-US" altLang="en-US" sz="2400" dirty="0"/>
          </a:p>
          <a:p>
            <a:pPr marL="457200" indent="-457200">
              <a:buFontTx/>
              <a:buChar char="-"/>
            </a:pPr>
            <a:endParaRPr lang="en-US" altLang="en-US" sz="2400" dirty="0"/>
          </a:p>
          <a:p>
            <a:pPr indent="0">
              <a:buFontTx/>
              <a:buNone/>
            </a:pPr>
            <a:r>
              <a:rPr lang="en-US" altLang="en-US" sz="2400" dirty="0"/>
              <a:t>7. Tracks student performance and generates reports.</a:t>
            </a:r>
            <a:endParaRPr lang="en-US" altLang="en-US" sz="2400" dirty="0"/>
          </a:p>
          <a:p>
            <a:pPr indent="0">
              <a:buFontTx/>
              <a:buNone/>
            </a:pPr>
            <a:r>
              <a:rPr lang="en-US" altLang="en-US" sz="2400" dirty="0"/>
              <a:t> This helps in analyzing progress and improvement.</a:t>
            </a:r>
            <a:endParaRPr lang="en-US" altLang="en-US" sz="2400" dirty="0"/>
          </a:p>
          <a:p>
            <a:pPr marL="457200" indent="-457200">
              <a:buFontTx/>
              <a:buChar char="-"/>
            </a:pPr>
            <a:endParaRPr lang="en-US" altLang="en-US" sz="2400" dirty="0"/>
          </a:p>
          <a:p>
            <a:pPr indent="0">
              <a:buFontTx/>
              <a:buNone/>
            </a:pPr>
            <a:r>
              <a:rPr lang="en-US" altLang="en-US" sz="2400" dirty="0"/>
              <a:t>8. Improves accuracy, transparency, and reliability of the system.</a:t>
            </a:r>
            <a:endParaRPr lang="en-US" altLang="en-US" sz="2400" dirty="0"/>
          </a:p>
          <a:p>
            <a:pPr indent="0">
              <a:buFontTx/>
              <a:buNone/>
            </a:pPr>
            <a:r>
              <a:rPr lang="en-US" altLang="en-US" sz="2400" dirty="0"/>
              <a:t> This enhances trust in the examination process.</a:t>
            </a:r>
            <a:endParaRPr lang="en-US" altLang="en-US" sz="2400" dirty="0"/>
          </a:p>
          <a:p>
            <a:pPr marL="457200" indent="-457200">
              <a:buFontTx/>
              <a:buChar char="-"/>
            </a:pPr>
            <a:endParaRPr lang="en-US"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2" name="Picture 31"/>
          <p:cNvPicPr>
            <a:picLocks noChangeAspect="1"/>
          </p:cNvPicPr>
          <p:nvPr/>
        </p:nvPicPr>
        <p:blipFill>
          <a:blip r:embed="rId3"/>
          <a:stretch>
            <a:fillRect/>
          </a:stretch>
        </p:blipFill>
        <p:spPr>
          <a:xfrm>
            <a:off x="3352800" y="1790700"/>
            <a:ext cx="11726545" cy="7818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1080"/>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rcRect b="3258"/>
          <a:stretch>
            <a:fillRect/>
          </a:stretch>
        </p:blipFill>
        <p:spPr>
          <a:xfrm>
            <a:off x="3352800" y="1409700"/>
            <a:ext cx="11578590" cy="746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33600" y="1714500"/>
            <a:ext cx="15082325" cy="7847330"/>
          </a:xfrm>
          <a:prstGeom prst="rect">
            <a:avLst/>
          </a:prstGeom>
          <a:noFill/>
        </p:spPr>
        <p:txBody>
          <a:bodyPr wrap="square" rtlCol="0">
            <a:spAutoFit/>
          </a:bodyPr>
          <a:lstStyle/>
          <a:p>
            <a:pPr indent="0">
              <a:buFontTx/>
              <a:buNone/>
            </a:pPr>
            <a:r>
              <a:rPr lang="en-US" sz="2800" dirty="0">
                <a:solidFill>
                  <a:srgbClr val="0033CC"/>
                </a:solidFill>
                <a:sym typeface="+mn-ea"/>
              </a:rPr>
              <a:t>Frontend:</a:t>
            </a:r>
            <a:endParaRPr lang="en-US" sz="2800" dirty="0">
              <a:solidFill>
                <a:srgbClr val="0033CC"/>
              </a:solidFill>
            </a:endParaRPr>
          </a:p>
          <a:p>
            <a:pPr indent="0">
              <a:buFontTx/>
              <a:buNone/>
            </a:pPr>
            <a:r>
              <a:rPr lang="en-US" sz="2800" dirty="0">
                <a:sym typeface="+mn-ea"/>
              </a:rPr>
              <a:t>1.HTML5</a:t>
            </a:r>
            <a:endParaRPr lang="en-US" sz="2800" dirty="0"/>
          </a:p>
          <a:p>
            <a:pPr indent="0">
              <a:buFontTx/>
              <a:buNone/>
            </a:pPr>
            <a:r>
              <a:rPr lang="en-US" sz="2800" dirty="0">
                <a:sym typeface="+mn-ea"/>
              </a:rPr>
              <a:t>2.CSS3</a:t>
            </a:r>
            <a:endParaRPr lang="en-US" sz="2800" dirty="0"/>
          </a:p>
          <a:p>
            <a:pPr indent="0">
              <a:buFontTx/>
              <a:buNone/>
            </a:pPr>
            <a:r>
              <a:rPr lang="en-US" sz="2800" dirty="0">
                <a:sym typeface="+mn-ea"/>
              </a:rPr>
              <a:t>3.Javascript</a:t>
            </a:r>
            <a:endParaRPr lang="en-US" sz="2800" dirty="0"/>
          </a:p>
          <a:p>
            <a:pPr indent="0">
              <a:buFontTx/>
              <a:buNone/>
            </a:pPr>
            <a:r>
              <a:rPr lang="en-US" altLang="en-IN" sz="2800" dirty="0"/>
              <a:t>Thymeleaf</a:t>
            </a:r>
            <a:endParaRPr lang="en-US" altLang="en-IN" sz="2800" dirty="0"/>
          </a:p>
          <a:p>
            <a:pPr marL="457200" indent="-457200">
              <a:buFontTx/>
              <a:buChar char="-"/>
            </a:pPr>
            <a:endParaRPr lang="en-US" altLang="en-IN" sz="2800" dirty="0"/>
          </a:p>
          <a:p>
            <a:pPr indent="0">
              <a:buFontTx/>
              <a:buNone/>
            </a:pPr>
            <a:r>
              <a:rPr lang="en-US" sz="2800" dirty="0">
                <a:solidFill>
                  <a:srgbClr val="0033CC"/>
                </a:solidFill>
                <a:sym typeface="+mn-ea"/>
              </a:rPr>
              <a:t>Backend:</a:t>
            </a:r>
            <a:endParaRPr lang="en-US" sz="2800" dirty="0">
              <a:solidFill>
                <a:srgbClr val="0033CC"/>
              </a:solidFill>
            </a:endParaRPr>
          </a:p>
          <a:p>
            <a:pPr indent="0">
              <a:buFontTx/>
              <a:buNone/>
            </a:pPr>
            <a:r>
              <a:rPr lang="en-US" sz="2800" dirty="0">
                <a:sym typeface="+mn-ea"/>
              </a:rPr>
              <a:t>1.Java Spring Boot</a:t>
            </a:r>
            <a:endParaRPr lang="en-US" sz="2800" dirty="0"/>
          </a:p>
          <a:p>
            <a:pPr indent="0">
              <a:buFontTx/>
              <a:buNone/>
            </a:pPr>
            <a:r>
              <a:rPr lang="en-US" altLang="en-IN" sz="2800" dirty="0"/>
              <a:t>2.Java17</a:t>
            </a:r>
            <a:endParaRPr lang="en-US" altLang="en-IN" sz="2800" dirty="0"/>
          </a:p>
          <a:p>
            <a:pPr marL="457200" indent="-457200">
              <a:buFontTx/>
              <a:buChar char="-"/>
            </a:pPr>
            <a:endParaRPr lang="en-US" altLang="en-IN" sz="2800" dirty="0"/>
          </a:p>
          <a:p>
            <a:pPr indent="0">
              <a:buFontTx/>
              <a:buNone/>
            </a:pPr>
            <a:r>
              <a:rPr lang="en-US" sz="2800" dirty="0">
                <a:solidFill>
                  <a:srgbClr val="0033CC"/>
                </a:solidFill>
                <a:sym typeface="+mn-ea"/>
              </a:rPr>
              <a:t>Data Base / Tools:</a:t>
            </a:r>
            <a:endParaRPr lang="en-US" sz="2800" dirty="0">
              <a:sym typeface="+mn-ea"/>
            </a:endParaRPr>
          </a:p>
          <a:p>
            <a:pPr indent="0">
              <a:buFontTx/>
              <a:buNone/>
            </a:pPr>
            <a:r>
              <a:rPr lang="en-US" sz="2800" dirty="0">
                <a:sym typeface="+mn-ea"/>
              </a:rPr>
              <a:t>1.MySql</a:t>
            </a:r>
            <a:endParaRPr lang="en-US" sz="2800" dirty="0">
              <a:sym typeface="+mn-ea"/>
            </a:endParaRPr>
          </a:p>
          <a:p>
            <a:pPr indent="0">
              <a:buFontTx/>
              <a:buNone/>
            </a:pPr>
            <a:endParaRPr lang="en-US" sz="2800" dirty="0">
              <a:sym typeface="+mn-ea"/>
            </a:endParaRPr>
          </a:p>
          <a:p>
            <a:pPr indent="0">
              <a:buFontTx/>
              <a:buNone/>
            </a:pPr>
            <a:r>
              <a:rPr lang="en-US" sz="2800" dirty="0">
                <a:solidFill>
                  <a:srgbClr val="0033CC"/>
                </a:solidFill>
                <a:sym typeface="+mn-ea"/>
              </a:rPr>
              <a:t>Software Requirements</a:t>
            </a:r>
            <a:r>
              <a:rPr lang="en-US" sz="2800" dirty="0">
                <a:sym typeface="+mn-ea"/>
              </a:rPr>
              <a:t>:</a:t>
            </a:r>
            <a:endParaRPr lang="en-US" sz="2800" dirty="0"/>
          </a:p>
          <a:p>
            <a:pPr indent="0">
              <a:buFontTx/>
              <a:buNone/>
            </a:pPr>
            <a:r>
              <a:rPr lang="en-US" sz="2800" dirty="0">
                <a:sym typeface="+mn-ea"/>
              </a:rPr>
              <a:t>1.Windows / Mac </a:t>
            </a:r>
            <a:endParaRPr lang="en-US" sz="2800" dirty="0"/>
          </a:p>
          <a:p>
            <a:pPr indent="0">
              <a:buFontTx/>
              <a:buNone/>
            </a:pPr>
            <a:r>
              <a:rPr lang="en-US" sz="2800" dirty="0">
                <a:sym typeface="+mn-ea"/>
              </a:rPr>
              <a:t>2. Web Browser</a:t>
            </a:r>
            <a:endParaRPr lang="en-US" sz="2800" dirty="0"/>
          </a:p>
          <a:p>
            <a:pPr marL="457200" indent="-457200">
              <a:buFontTx/>
              <a:buChar char="-"/>
            </a:pPr>
            <a:endParaRPr lang="en-US" sz="2800" dirty="0"/>
          </a:p>
          <a:p>
            <a:pPr marL="457200" indent="-457200">
              <a:buFontTx/>
              <a:buChar char="-"/>
            </a:pPr>
            <a:endParaRPr lang="en-US" alt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7477760"/>
          </a:xfrm>
          <a:prstGeom prst="rect">
            <a:avLst/>
          </a:prstGeom>
          <a:noFill/>
        </p:spPr>
        <p:txBody>
          <a:bodyPr wrap="square" rtlCol="0">
            <a:spAutoFit/>
          </a:bodyPr>
          <a:lstStyle/>
          <a:p>
            <a:r>
              <a:rPr lang="en-US" altLang="en-US" sz="2400" b="1" dirty="0"/>
              <a:t>Module 1: User Management</a:t>
            </a:r>
            <a:endParaRPr lang="en-US" altLang="en-US" sz="2400" b="1" dirty="0"/>
          </a:p>
          <a:p>
            <a:endParaRPr lang="en-US" altLang="en-US" sz="2400" b="1" dirty="0"/>
          </a:p>
          <a:p>
            <a:r>
              <a:rPr lang="en-US" altLang="en-US" sz="2400" dirty="0"/>
              <a:t>Handles student and admin registration and login with secure authentication.</a:t>
            </a:r>
            <a:endParaRPr lang="en-US" altLang="en-US" sz="2400" dirty="0"/>
          </a:p>
          <a:p>
            <a:r>
              <a:rPr lang="en-US" altLang="en-US" sz="2400" dirty="0"/>
              <a:t>Manages user profiles and access control for both admin and students.</a:t>
            </a:r>
            <a:endParaRPr lang="en-US" altLang="en-US" sz="2400" dirty="0"/>
          </a:p>
          <a:p>
            <a:endParaRPr lang="en-US" altLang="en-US" sz="2400" dirty="0"/>
          </a:p>
          <a:p>
            <a:r>
              <a:rPr lang="en-US" altLang="en-US" sz="2400" b="1" dirty="0"/>
              <a:t>Module 2: Question Management (Admin)</a:t>
            </a:r>
            <a:endParaRPr lang="en-US" altLang="en-US" sz="2400" dirty="0"/>
          </a:p>
          <a:p>
            <a:endParaRPr lang="en-US" altLang="en-US" sz="2400" dirty="0"/>
          </a:p>
          <a:p>
            <a:r>
              <a:rPr lang="en-US" altLang="en-US" sz="2400" dirty="0"/>
              <a:t>Allows admin to add, update, and delete questions in the system.</a:t>
            </a:r>
            <a:endParaRPr lang="en-US" altLang="en-US" sz="2400" dirty="0"/>
          </a:p>
          <a:p>
            <a:r>
              <a:rPr lang="en-US" altLang="en-US" sz="2400" dirty="0"/>
              <a:t>Maintains the question bank and monitors student performance.</a:t>
            </a:r>
            <a:endParaRPr lang="en-US" altLang="en-US" sz="2400" dirty="0"/>
          </a:p>
          <a:p>
            <a:endParaRPr lang="en-US" altLang="en-US" sz="2400" dirty="0"/>
          </a:p>
          <a:p>
            <a:r>
              <a:rPr lang="en-US" altLang="en-US" sz="2400" b="1" dirty="0"/>
              <a:t>Module 3: Exam Processing</a:t>
            </a:r>
            <a:endParaRPr lang="en-US" altLang="en-US" sz="2400" b="1" dirty="0"/>
          </a:p>
          <a:p>
            <a:endParaRPr lang="en-US" altLang="en-US" sz="2400" dirty="0"/>
          </a:p>
          <a:p>
            <a:r>
              <a:rPr lang="en-US" altLang="en-US" sz="2400" dirty="0"/>
              <a:t>Enables students to select subjects and take exams online.</a:t>
            </a:r>
            <a:endParaRPr lang="en-US" altLang="en-US" sz="2400" dirty="0"/>
          </a:p>
          <a:p>
            <a:r>
              <a:rPr lang="en-US" altLang="en-US" sz="2400" dirty="0"/>
              <a:t>Processes answers and performs automatic evaluation of scores.</a:t>
            </a:r>
            <a:endParaRPr lang="en-US" altLang="en-US" sz="2400" dirty="0"/>
          </a:p>
          <a:p>
            <a:endParaRPr lang="en-US" altLang="en-US" sz="2400" dirty="0"/>
          </a:p>
          <a:p>
            <a:r>
              <a:rPr lang="en-US" altLang="en-US" sz="2400" b="1" dirty="0"/>
              <a:t>Module 4: Result Management</a:t>
            </a:r>
            <a:endParaRPr lang="en-US" altLang="en-US" sz="2400" b="1" dirty="0"/>
          </a:p>
          <a:p>
            <a:endParaRPr lang="en-US" altLang="en-US" sz="2400" dirty="0"/>
          </a:p>
          <a:p>
            <a:r>
              <a:rPr lang="en-US" altLang="en-US" sz="2400" dirty="0"/>
              <a:t>Generates and stores student results after evaluation.</a:t>
            </a:r>
            <a:endParaRPr lang="en-US" altLang="en-US" sz="2400" dirty="0"/>
          </a:p>
          <a:p>
            <a:r>
              <a:rPr lang="en-US" altLang="en-US" sz="2400" dirty="0"/>
              <a:t>Allows students to view results and admins to analyze performance.</a:t>
            </a:r>
            <a:endParaRPr lang="en-US" altLang="en-US" sz="2400" dirty="0"/>
          </a:p>
          <a:p>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42515" y="1647825"/>
            <a:ext cx="15082325" cy="4831080"/>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rcRect l="34343" r="35354"/>
          <a:stretch>
            <a:fillRect/>
          </a:stretch>
        </p:blipFill>
        <p:spPr>
          <a:xfrm>
            <a:off x="2362200" y="1562100"/>
            <a:ext cx="4572000" cy="6924675"/>
          </a:xfrm>
          <a:prstGeom prst="rect">
            <a:avLst/>
          </a:prstGeom>
        </p:spPr>
      </p:pic>
      <p:sp>
        <p:nvSpPr>
          <p:cNvPr id="4" name="Text Box 3"/>
          <p:cNvSpPr txBox="1"/>
          <p:nvPr/>
        </p:nvSpPr>
        <p:spPr>
          <a:xfrm>
            <a:off x="3429000" y="8572500"/>
            <a:ext cx="2230755" cy="368300"/>
          </a:xfrm>
          <a:prstGeom prst="rect">
            <a:avLst/>
          </a:prstGeom>
          <a:noFill/>
        </p:spPr>
        <p:txBody>
          <a:bodyPr wrap="square" rtlCol="0">
            <a:spAutoFit/>
          </a:bodyPr>
          <a:p>
            <a:r>
              <a:rPr lang="en-US"/>
              <a:t>REGISTRATION PAGE</a:t>
            </a:r>
            <a:endParaRPr lang="en-US"/>
          </a:p>
        </p:txBody>
      </p:sp>
      <p:pic>
        <p:nvPicPr>
          <p:cNvPr id="5" name="Picture 4"/>
          <p:cNvPicPr>
            <a:picLocks noChangeAspect="1"/>
          </p:cNvPicPr>
          <p:nvPr/>
        </p:nvPicPr>
        <p:blipFill>
          <a:blip r:embed="rId4"/>
          <a:srcRect l="33851" t="15746" r="34856" b="14641"/>
          <a:stretch>
            <a:fillRect/>
          </a:stretch>
        </p:blipFill>
        <p:spPr>
          <a:xfrm>
            <a:off x="7924800" y="1485900"/>
            <a:ext cx="4724400" cy="4800600"/>
          </a:xfrm>
          <a:prstGeom prst="rect">
            <a:avLst/>
          </a:prstGeom>
        </p:spPr>
      </p:pic>
      <p:sp>
        <p:nvSpPr>
          <p:cNvPr id="6" name="Text Box 5"/>
          <p:cNvSpPr txBox="1"/>
          <p:nvPr/>
        </p:nvSpPr>
        <p:spPr>
          <a:xfrm>
            <a:off x="9525000" y="6362700"/>
            <a:ext cx="2201545" cy="368300"/>
          </a:xfrm>
          <a:prstGeom prst="rect">
            <a:avLst/>
          </a:prstGeom>
          <a:noFill/>
        </p:spPr>
        <p:txBody>
          <a:bodyPr wrap="square" rtlCol="0">
            <a:spAutoFit/>
          </a:bodyPr>
          <a:p>
            <a:r>
              <a:rPr lang="en-US"/>
              <a:t>LOGIN PAGE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rcRect l="10556" r="9545"/>
          <a:stretch>
            <a:fillRect/>
          </a:stretch>
        </p:blipFill>
        <p:spPr>
          <a:xfrm>
            <a:off x="2133600" y="1588135"/>
            <a:ext cx="7625715" cy="4398645"/>
          </a:xfrm>
          <a:prstGeom prst="rect">
            <a:avLst/>
          </a:prstGeom>
        </p:spPr>
      </p:pic>
      <p:sp>
        <p:nvSpPr>
          <p:cNvPr id="3" name="Text Box 2"/>
          <p:cNvSpPr txBox="1"/>
          <p:nvPr/>
        </p:nvSpPr>
        <p:spPr>
          <a:xfrm>
            <a:off x="2514600" y="6136640"/>
            <a:ext cx="7030085" cy="368300"/>
          </a:xfrm>
          <a:prstGeom prst="rect">
            <a:avLst/>
          </a:prstGeom>
          <a:noFill/>
        </p:spPr>
        <p:txBody>
          <a:bodyPr wrap="square" rtlCol="0">
            <a:spAutoFit/>
          </a:bodyPr>
          <a:p>
            <a:pPr marL="2286000" lvl="5" indent="457200"/>
            <a:r>
              <a:rPr lang="en-US"/>
              <a:t>ADMIN PAGE	</a:t>
            </a:r>
            <a:endParaRPr lang="en-US"/>
          </a:p>
        </p:txBody>
      </p:sp>
      <p:pic>
        <p:nvPicPr>
          <p:cNvPr id="4" name="Picture 3"/>
          <p:cNvPicPr>
            <a:picLocks noChangeAspect="1"/>
          </p:cNvPicPr>
          <p:nvPr/>
        </p:nvPicPr>
        <p:blipFill>
          <a:blip r:embed="rId4"/>
          <a:srcRect l="12223" r="12219"/>
          <a:stretch>
            <a:fillRect/>
          </a:stretch>
        </p:blipFill>
        <p:spPr>
          <a:xfrm>
            <a:off x="10363200" y="4526915"/>
            <a:ext cx="7573010" cy="4644390"/>
          </a:xfrm>
          <a:prstGeom prst="rect">
            <a:avLst/>
          </a:prstGeom>
        </p:spPr>
      </p:pic>
      <p:sp>
        <p:nvSpPr>
          <p:cNvPr id="5" name="Text Box 4"/>
          <p:cNvSpPr txBox="1"/>
          <p:nvPr/>
        </p:nvSpPr>
        <p:spPr>
          <a:xfrm>
            <a:off x="12043410" y="9363710"/>
            <a:ext cx="4263390" cy="368300"/>
          </a:xfrm>
          <a:prstGeom prst="rect">
            <a:avLst/>
          </a:prstGeom>
          <a:noFill/>
        </p:spPr>
        <p:txBody>
          <a:bodyPr wrap="square" rtlCol="0">
            <a:spAutoFit/>
          </a:bodyPr>
          <a:p>
            <a:pPr marL="457200" lvl="1" indent="457200"/>
            <a:r>
              <a:rPr lang="en-US"/>
              <a:t>ADD QUESTION MODULE</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rcRect l="11062" r="11062"/>
          <a:stretch>
            <a:fillRect/>
          </a:stretch>
        </p:blipFill>
        <p:spPr>
          <a:xfrm>
            <a:off x="4267200" y="2781300"/>
            <a:ext cx="8605520" cy="4526280"/>
          </a:xfrm>
          <a:prstGeom prst="rect">
            <a:avLst/>
          </a:prstGeom>
        </p:spPr>
      </p:pic>
      <p:sp>
        <p:nvSpPr>
          <p:cNvPr id="3" name="Text Box 2"/>
          <p:cNvSpPr txBox="1"/>
          <p:nvPr/>
        </p:nvSpPr>
        <p:spPr>
          <a:xfrm>
            <a:off x="5181600" y="7646670"/>
            <a:ext cx="7192645" cy="368300"/>
          </a:xfrm>
          <a:prstGeom prst="rect">
            <a:avLst/>
          </a:prstGeom>
          <a:noFill/>
        </p:spPr>
        <p:txBody>
          <a:bodyPr wrap="square" rtlCol="0">
            <a:spAutoFit/>
          </a:bodyPr>
          <a:p>
            <a:pPr marL="1371600" lvl="3" indent="457200"/>
            <a:r>
              <a:rPr lang="en-US"/>
              <a:t>VIEW RESULTS MODULE</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rcRect l="11254" r="10631"/>
          <a:stretch>
            <a:fillRect/>
          </a:stretch>
        </p:blipFill>
        <p:spPr>
          <a:xfrm>
            <a:off x="1981200" y="1638300"/>
            <a:ext cx="7099935" cy="4223385"/>
          </a:xfrm>
          <a:prstGeom prst="rect">
            <a:avLst/>
          </a:prstGeom>
        </p:spPr>
      </p:pic>
      <p:sp>
        <p:nvSpPr>
          <p:cNvPr id="3" name="Text Box 2"/>
          <p:cNvSpPr txBox="1"/>
          <p:nvPr/>
        </p:nvSpPr>
        <p:spPr>
          <a:xfrm>
            <a:off x="2411095" y="6010275"/>
            <a:ext cx="5818505" cy="368300"/>
          </a:xfrm>
          <a:prstGeom prst="rect">
            <a:avLst/>
          </a:prstGeom>
          <a:noFill/>
        </p:spPr>
        <p:txBody>
          <a:bodyPr wrap="square" rtlCol="0">
            <a:spAutoFit/>
          </a:bodyPr>
          <a:p>
            <a:pPr marL="1371600" lvl="3" indent="457200"/>
            <a:r>
              <a:rPr lang="en-US"/>
              <a:t>STUDENT MODULE</a:t>
            </a:r>
            <a:endParaRPr lang="en-US"/>
          </a:p>
        </p:txBody>
      </p:sp>
      <p:pic>
        <p:nvPicPr>
          <p:cNvPr id="4" name="Picture 3"/>
          <p:cNvPicPr>
            <a:picLocks noChangeAspect="1"/>
          </p:cNvPicPr>
          <p:nvPr/>
        </p:nvPicPr>
        <p:blipFill>
          <a:blip r:embed="rId4"/>
          <a:stretch>
            <a:fillRect/>
          </a:stretch>
        </p:blipFill>
        <p:spPr>
          <a:xfrm>
            <a:off x="9474835" y="3980815"/>
            <a:ext cx="8114665" cy="5124450"/>
          </a:xfrm>
          <a:prstGeom prst="rect">
            <a:avLst/>
          </a:prstGeom>
        </p:spPr>
      </p:pic>
      <p:sp>
        <p:nvSpPr>
          <p:cNvPr id="5" name="Text Box 4"/>
          <p:cNvSpPr txBox="1"/>
          <p:nvPr/>
        </p:nvSpPr>
        <p:spPr>
          <a:xfrm>
            <a:off x="10822305" y="9225915"/>
            <a:ext cx="5865495" cy="368300"/>
          </a:xfrm>
          <a:prstGeom prst="rect">
            <a:avLst/>
          </a:prstGeom>
          <a:noFill/>
        </p:spPr>
        <p:txBody>
          <a:bodyPr wrap="square" rtlCol="0">
            <a:spAutoFit/>
          </a:bodyPr>
          <a:p>
            <a:pPr marL="1371600" lvl="3" indent="457200"/>
            <a:r>
              <a:rPr lang="en-US"/>
              <a:t>EXAM MODULE</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 Box 2"/>
          <p:cNvSpPr txBox="1"/>
          <p:nvPr/>
        </p:nvSpPr>
        <p:spPr>
          <a:xfrm>
            <a:off x="2411095" y="6010275"/>
            <a:ext cx="5818505" cy="368300"/>
          </a:xfrm>
          <a:prstGeom prst="rect">
            <a:avLst/>
          </a:prstGeom>
          <a:noFill/>
        </p:spPr>
        <p:txBody>
          <a:bodyPr wrap="square" rtlCol="0">
            <a:spAutoFit/>
          </a:bodyPr>
          <a:p>
            <a:pPr marL="1371600" lvl="3" indent="457200"/>
            <a:endParaRPr lang="en-US"/>
          </a:p>
        </p:txBody>
      </p:sp>
      <p:sp>
        <p:nvSpPr>
          <p:cNvPr id="5" name="Text Box 4"/>
          <p:cNvSpPr txBox="1"/>
          <p:nvPr/>
        </p:nvSpPr>
        <p:spPr>
          <a:xfrm>
            <a:off x="10822305" y="9225915"/>
            <a:ext cx="5865495" cy="368300"/>
          </a:xfrm>
          <a:prstGeom prst="rect">
            <a:avLst/>
          </a:prstGeom>
          <a:noFill/>
        </p:spPr>
        <p:txBody>
          <a:bodyPr wrap="square" rtlCol="0">
            <a:spAutoFit/>
          </a:bodyPr>
          <a:p>
            <a:pPr marL="1371600" lvl="3" indent="457200"/>
            <a:endParaRPr lang="en-US"/>
          </a:p>
        </p:txBody>
      </p:sp>
      <p:pic>
        <p:nvPicPr>
          <p:cNvPr id="6" name="Picture 5"/>
          <p:cNvPicPr>
            <a:picLocks noChangeAspect="1"/>
          </p:cNvPicPr>
          <p:nvPr/>
        </p:nvPicPr>
        <p:blipFill>
          <a:blip r:embed="rId3"/>
          <a:stretch>
            <a:fillRect/>
          </a:stretch>
        </p:blipFill>
        <p:spPr>
          <a:xfrm>
            <a:off x="3108960" y="1630680"/>
            <a:ext cx="12070080" cy="7025640"/>
          </a:xfrm>
          <a:prstGeom prst="rect">
            <a:avLst/>
          </a:prstGeom>
        </p:spPr>
      </p:pic>
      <p:sp>
        <p:nvSpPr>
          <p:cNvPr id="38" name="Text Box 37"/>
          <p:cNvSpPr txBox="1"/>
          <p:nvPr/>
        </p:nvSpPr>
        <p:spPr>
          <a:xfrm>
            <a:off x="5835015" y="8857615"/>
            <a:ext cx="7576185" cy="368300"/>
          </a:xfrm>
          <a:prstGeom prst="rect">
            <a:avLst/>
          </a:prstGeom>
          <a:noFill/>
        </p:spPr>
        <p:txBody>
          <a:bodyPr wrap="square" rtlCol="0">
            <a:spAutoFit/>
          </a:bodyPr>
          <a:p>
            <a:pPr marL="1828800" lvl="4" indent="457200"/>
            <a:r>
              <a:rPr lang="en-US"/>
              <a:t>VIEW RESULTS MODULE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3" name="Text Box 32"/>
          <p:cNvSpPr txBox="1"/>
          <p:nvPr/>
        </p:nvSpPr>
        <p:spPr>
          <a:xfrm>
            <a:off x="2128520" y="2038985"/>
            <a:ext cx="14330680" cy="7367270"/>
          </a:xfrm>
          <a:prstGeom prst="rect">
            <a:avLst/>
          </a:prstGeom>
          <a:noFill/>
        </p:spPr>
        <p:txBody>
          <a:bodyPr wrap="square" rtlCol="0">
            <a:noAutofit/>
          </a:bodyPr>
          <a:p>
            <a:r>
              <a:rPr lang="en-US" sz="2800" b="1" dirty="0">
                <a:solidFill>
                  <a:srgbClr val="0033CC"/>
                </a:solidFill>
                <a:sym typeface="+mn-ea"/>
              </a:rPr>
              <a:t>Advantages:</a:t>
            </a:r>
            <a:endParaRPr lang="en-US" sz="2800" b="1" dirty="0">
              <a:solidFill>
                <a:srgbClr val="0033CC"/>
              </a:solidFill>
              <a:sym typeface="+mn-ea"/>
            </a:endParaRPr>
          </a:p>
          <a:p>
            <a:endParaRPr lang="en-US" sz="2800" b="1" dirty="0">
              <a:solidFill>
                <a:srgbClr val="0033CC"/>
              </a:solidFill>
            </a:endParaRPr>
          </a:p>
          <a:p>
            <a:r>
              <a:rPr lang="en-US" altLang="en-US" sz="2800"/>
              <a:t>1)Saves time by automating exam and result processing.</a:t>
            </a:r>
            <a:endParaRPr lang="en-US" altLang="en-US" sz="2800"/>
          </a:p>
          <a:p>
            <a:r>
              <a:rPr lang="en-US" altLang="en-US" sz="2800"/>
              <a:t>2)Reduces manual errors in evaluation.</a:t>
            </a:r>
            <a:endParaRPr lang="en-US" altLang="en-US" sz="2800"/>
          </a:p>
          <a:p>
            <a:r>
              <a:rPr lang="en-US" altLang="en-US" sz="2800"/>
              <a:t>3)Provides instant results to students.</a:t>
            </a:r>
            <a:endParaRPr lang="en-US" altLang="en-US" sz="2800"/>
          </a:p>
          <a:p>
            <a:r>
              <a:rPr lang="en-US" altLang="en-US" sz="2800"/>
              <a:t>4)Easy question management for admin.</a:t>
            </a:r>
            <a:endParaRPr lang="en-US" altLang="en-US" sz="2800"/>
          </a:p>
          <a:p>
            <a:r>
              <a:rPr lang="en-US" altLang="en-US" sz="2800"/>
              <a:t>5)Accessible from anywhere (online system).</a:t>
            </a:r>
            <a:endParaRPr lang="en-US" altLang="en-US" sz="2800"/>
          </a:p>
          <a:p>
            <a:r>
              <a:rPr lang="en-US" altLang="en-US" sz="2800"/>
              <a:t>6)Handles multiple students simultaneously.</a:t>
            </a:r>
            <a:endParaRPr lang="en-US" altLang="en-US" sz="2800"/>
          </a:p>
          <a:p>
            <a:endParaRPr lang="en-US" altLang="en-US" sz="2800"/>
          </a:p>
          <a:p>
            <a:r>
              <a:rPr lang="en-US" sz="2800" b="1" dirty="0">
                <a:solidFill>
                  <a:srgbClr val="0033CC"/>
                </a:solidFill>
                <a:sym typeface="+mn-ea"/>
              </a:rPr>
              <a:t>Limitations:</a:t>
            </a:r>
            <a:endParaRPr lang="en-US" sz="2800" b="1" dirty="0">
              <a:solidFill>
                <a:srgbClr val="0033CC"/>
              </a:solidFill>
            </a:endParaRPr>
          </a:p>
          <a:p>
            <a:r>
              <a:rPr lang="en-US" sz="2800" b="1" dirty="0">
                <a:sym typeface="+mn-ea"/>
              </a:rPr>
              <a:t> </a:t>
            </a:r>
            <a:endParaRPr lang="en-US" sz="2800" b="1" dirty="0"/>
          </a:p>
          <a:p>
            <a:r>
              <a:rPr lang="en-US" altLang="en-US" sz="2800"/>
              <a:t>1)Requires stable internet connection.</a:t>
            </a:r>
            <a:endParaRPr lang="en-US" altLang="en-US" sz="2800"/>
          </a:p>
          <a:p>
            <a:r>
              <a:rPr lang="en-US" altLang="en-US" sz="2800"/>
              <a:t>2)Possibility of technical issues during exams.</a:t>
            </a:r>
            <a:endParaRPr lang="en-US" altLang="en-US" sz="2800"/>
          </a:p>
          <a:p>
            <a:r>
              <a:rPr lang="en-US" altLang="en-US" sz="2800"/>
              <a:t>3)Security risks like cheating or hacking.</a:t>
            </a:r>
            <a:endParaRPr lang="en-US" altLang="en-US" sz="2800"/>
          </a:p>
          <a:p>
            <a:r>
              <a:rPr lang="en-US" altLang="en-US" sz="2800"/>
              <a:t>3)Depends on system performance and server load.</a:t>
            </a:r>
            <a:endParaRPr lang="en-US" altLang="en-US" sz="2800"/>
          </a:p>
          <a:p>
            <a:r>
              <a:rPr lang="en-US" altLang="en-US" sz="2800"/>
              <a:t>4)Initial setup and maintenance cost is required.</a:t>
            </a:r>
            <a:endParaRPr lang="en-US"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4902</Words>
  <Application>WPS Presentation</Application>
  <PresentationFormat>Custom</PresentationFormat>
  <Paragraphs>504</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Raajidha Gadde</cp:lastModifiedBy>
  <cp:revision>12</cp:revision>
  <dcterms:created xsi:type="dcterms:W3CDTF">2006-08-16T00:00:00Z</dcterms:created>
  <dcterms:modified xsi:type="dcterms:W3CDTF">2026-03-21T13:11:22Z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46C5A217B8744C64903D9D6CB80D2E83_13</vt:lpwstr>
  </property>
</Properties>
</file>